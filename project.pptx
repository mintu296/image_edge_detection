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ugo Classic" charset="1" panose="00000000000000000000"/>
      <p:regular r:id="rId18"/>
    </p:embeddedFont>
    <p:embeddedFont>
      <p:font typeface="Crimson Pro" charset="1" panose="00000000000000000000"/>
      <p:regular r:id="rId19"/>
    </p:embeddedFont>
    <p:embeddedFont>
      <p:font typeface="Crimson Pro Bold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57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352520" y="5878830"/>
            <a:ext cx="18640520" cy="6758940"/>
            <a:chOff x="0" y="0"/>
            <a:chExt cx="24854027" cy="90119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854027" cy="9011920"/>
            </a:xfrm>
            <a:custGeom>
              <a:avLst/>
              <a:gdLst/>
              <a:ahLst/>
              <a:cxnLst/>
              <a:rect r="r" b="b" t="t" l="l"/>
              <a:pathLst>
                <a:path h="9011920" w="24854027">
                  <a:moveTo>
                    <a:pt x="0" y="0"/>
                  </a:moveTo>
                  <a:lnTo>
                    <a:pt x="24854027" y="0"/>
                  </a:lnTo>
                  <a:lnTo>
                    <a:pt x="24854027" y="9011920"/>
                  </a:lnTo>
                  <a:lnTo>
                    <a:pt x="0" y="901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12" r="0" b="-101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-963187"/>
            <a:ext cx="3335303" cy="8085592"/>
            <a:chOff x="0" y="0"/>
            <a:chExt cx="4447070" cy="107807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7032" cy="10780776"/>
            </a:xfrm>
            <a:custGeom>
              <a:avLst/>
              <a:gdLst/>
              <a:ahLst/>
              <a:cxnLst/>
              <a:rect r="r" b="b" t="t" l="l"/>
              <a:pathLst>
                <a:path h="10780776" w="4447032">
                  <a:moveTo>
                    <a:pt x="0" y="0"/>
                  </a:moveTo>
                  <a:lnTo>
                    <a:pt x="4447032" y="0"/>
                  </a:lnTo>
                  <a:lnTo>
                    <a:pt x="4447032" y="10780776"/>
                  </a:lnTo>
                  <a:lnTo>
                    <a:pt x="0" y="10780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t="0" r="-8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1853498" y="-781050"/>
            <a:ext cx="14228493" cy="3245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95"/>
              </a:lnSpc>
            </a:pPr>
            <a:r>
              <a:rPr lang="en-US" sz="16211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Presentation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048696" y="3063216"/>
            <a:ext cx="9838087" cy="169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78"/>
              </a:lnSpc>
            </a:pPr>
            <a:r>
              <a:rPr lang="en-US" sz="4770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Mintu kumar</a:t>
            </a:r>
          </a:p>
          <a:p>
            <a:pPr algn="ctr">
              <a:lnSpc>
                <a:spcPts val="6678"/>
              </a:lnSpc>
            </a:pPr>
            <a:r>
              <a:rPr lang="en-US" sz="4770">
                <a:solidFill>
                  <a:srgbClr val="000000"/>
                </a:solidFill>
                <a:latin typeface="Sugo Classic"/>
                <a:ea typeface="Sugo Classic"/>
                <a:cs typeface="Sugo Classic"/>
                <a:sym typeface="Sugo Classic"/>
              </a:rPr>
              <a:t>GitHub : https://github.com/MINTU296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112823" y="4832137"/>
            <a:ext cx="3653152" cy="6381055"/>
            <a:chOff x="0" y="0"/>
            <a:chExt cx="4870869" cy="85080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70831" cy="8508111"/>
            </a:xfrm>
            <a:custGeom>
              <a:avLst/>
              <a:gdLst/>
              <a:ahLst/>
              <a:cxnLst/>
              <a:rect r="r" b="b" t="t" l="l"/>
              <a:pathLst>
                <a:path h="8508111" w="4870831">
                  <a:moveTo>
                    <a:pt x="0" y="0"/>
                  </a:moveTo>
                  <a:lnTo>
                    <a:pt x="4870831" y="0"/>
                  </a:lnTo>
                  <a:lnTo>
                    <a:pt x="4870831" y="8508111"/>
                  </a:lnTo>
                  <a:lnTo>
                    <a:pt x="0" y="8508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5" t="0" r="-5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3137880" y="8252136"/>
            <a:ext cx="3622519" cy="3513839"/>
            <a:chOff x="0" y="0"/>
            <a:chExt cx="4830026" cy="468511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30064" cy="4685157"/>
            </a:xfrm>
            <a:custGeom>
              <a:avLst/>
              <a:gdLst/>
              <a:ahLst/>
              <a:cxnLst/>
              <a:rect r="r" b="b" t="t" l="l"/>
              <a:pathLst>
                <a:path h="4685157" w="4830064">
                  <a:moveTo>
                    <a:pt x="0" y="0"/>
                  </a:moveTo>
                  <a:lnTo>
                    <a:pt x="4830064" y="0"/>
                  </a:lnTo>
                  <a:lnTo>
                    <a:pt x="4830064" y="4685157"/>
                  </a:lnTo>
                  <a:lnTo>
                    <a:pt x="0" y="46851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462974" y="1689973"/>
            <a:ext cx="12932512" cy="7792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5"/>
              </a:lnSpc>
            </a:pPr>
            <a:r>
              <a:rPr lang="en-US" sz="342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Hello, my name is Sahil Tushir, and this is my final project for the GPU Specialization Capstone.</a:t>
            </a:r>
          </a:p>
          <a:p>
            <a:pPr algn="ctr">
              <a:lnSpc>
                <a:spcPts val="4755"/>
              </a:lnSpc>
            </a:pPr>
            <a:r>
              <a:rPr lang="en-US" sz="342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 The focus of this project is GPU-accelerated image edge detection using TensorFlow in Google Colab.</a:t>
            </a:r>
          </a:p>
          <a:p>
            <a:pPr algn="ctr">
              <a:lnSpc>
                <a:spcPts val="4755"/>
              </a:lnSpc>
            </a:pPr>
            <a:r>
              <a:rPr lang="en-US" sz="342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In simple terms, I built a small system that takes an image and highlights the edges or outlines in that image — not using the CPU, but by offloading the work to the GPU. Why? Because GPUs are designed to handle repetitive, matrix-heavy operations like image filtering much faster than CPUs.</a:t>
            </a:r>
          </a:p>
          <a:p>
            <a:pPr algn="ctr">
              <a:lnSpc>
                <a:spcPts val="4755"/>
              </a:lnSpc>
            </a:pPr>
            <a:r>
              <a:rPr lang="en-US" sz="342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project not only demonstrates a practical use of GPU programming but also ties back to real-world applications in computer vision, image processing, and AI.</a:t>
            </a:r>
          </a:p>
          <a:p>
            <a:pPr algn="ctr">
              <a:lnSpc>
                <a:spcPts val="4755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899828" y="-52311"/>
            <a:ext cx="13049307" cy="208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1. Introduction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270160" y="-223314"/>
            <a:ext cx="13049307" cy="39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2. Problem Statement – Why This Problem Matters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88880" y="3803352"/>
            <a:ext cx="13747680" cy="157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Edge detection is a foundational task in computer vision. It’s what enables systems to recognize objects, distinguish boundaries, and extract important structural features from raw pixel data.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20973" y="5479656"/>
            <a:ext cx="13747680" cy="107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However, edge detection can be computationally expensive — especially when applied to large datasets, high-resolution images, or real-time video.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0973" y="6647936"/>
            <a:ext cx="13747680" cy="157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My goal was to implement an edge detection algorithm that runs on the GPU using a high-level framework like TensorFlow, and to visualize how the GPU makes the computation faster and more efficient.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70340" y="3925633"/>
            <a:ext cx="12425315" cy="157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Originally, I planned to use CuPy, a library similar to NumPy that runs operations on the GPU. But I quickly ran into compatibility issues — Google Colab had CUDA version mismatches, and CuPy failed with errors like: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953645" y="5598728"/>
            <a:ext cx="10576941" cy="806720"/>
            <a:chOff x="0" y="0"/>
            <a:chExt cx="14102588" cy="10756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102587" cy="1075563"/>
            </a:xfrm>
            <a:custGeom>
              <a:avLst/>
              <a:gdLst/>
              <a:ahLst/>
              <a:cxnLst/>
              <a:rect r="r" b="b" t="t" l="l"/>
              <a:pathLst>
                <a:path h="1075563" w="14102587">
                  <a:moveTo>
                    <a:pt x="0" y="0"/>
                  </a:moveTo>
                  <a:lnTo>
                    <a:pt x="14102587" y="0"/>
                  </a:lnTo>
                  <a:lnTo>
                    <a:pt x="14102587" y="1075563"/>
                  </a:lnTo>
                  <a:lnTo>
                    <a:pt x="0" y="107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5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522915" y="-61646"/>
            <a:ext cx="13049307" cy="39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3. Challenges I Faced – What Didn’t Work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70340" y="6367348"/>
            <a:ext cx="12425315" cy="410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After troubleshooting for hours, I realized that installation complexity was stealing focus from the actual problem I wanted to solve.</a:t>
            </a:r>
          </a:p>
          <a:p>
            <a:pPr algn="l">
              <a:lnSpc>
                <a:spcPts val="4030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So I switched to TensorFlow, which is:</a:t>
            </a: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Pre-installed in Colab</a:t>
            </a: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GPU-ready by default</a:t>
            </a: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Capable of performing image operations like convolution</a:t>
            </a:r>
          </a:p>
          <a:p>
            <a:pPr algn="l" marL="662941" indent="-220980" lvl="2">
              <a:lnSpc>
                <a:spcPts val="4030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switch allowed me to focus on the solution instead of fighting with tools.</a:t>
            </a:r>
          </a:p>
          <a:p>
            <a:pPr algn="l" marL="662941" indent="-220980" lvl="2">
              <a:lnSpc>
                <a:spcPts val="403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8378" y="3396063"/>
            <a:ext cx="12896317" cy="6279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Let me walk you through the technical steps I followed in the code: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📌 Step 1: Uploading the Image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 used a cartoon image of Ben 10 — because cartoons have strong, clear edges which make edge detection results easier to interpret visually. The image is converted to grayscale and resized to 256x256 to keep the computation light.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📌 Step 2: Defining the Sobel Filter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 used a horizontal Sobel kernel, which is a 3×3 matrix that looks like this: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[ [1, 0, -1],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  [2, 0, -2],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  [1, 0, -1] ]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kernel highlights changes in pixel intensity along the horizontal direction — in other words, it brings out the edges.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3426590"/>
            <a:ext cx="3543833" cy="2657875"/>
            <a:chOff x="0" y="0"/>
            <a:chExt cx="4725111" cy="35438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5162" cy="3543808"/>
            </a:xfrm>
            <a:custGeom>
              <a:avLst/>
              <a:gdLst/>
              <a:ahLst/>
              <a:cxnLst/>
              <a:rect r="r" b="b" t="t" l="l"/>
              <a:pathLst>
                <a:path h="3543808" w="4725162">
                  <a:moveTo>
                    <a:pt x="0" y="0"/>
                  </a:moveTo>
                  <a:lnTo>
                    <a:pt x="4725162" y="0"/>
                  </a:lnTo>
                  <a:lnTo>
                    <a:pt x="4725162" y="3543808"/>
                  </a:lnTo>
                  <a:lnTo>
                    <a:pt x="0" y="354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76507" y="-504825"/>
            <a:ext cx="13049307" cy="39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My Technical Approach – How I Solved the Problem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14749" y="6214434"/>
            <a:ext cx="14611064" cy="3613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372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📌 Step 3: Performing Convolution on the GPU</a:t>
            </a:r>
          </a:p>
          <a:p>
            <a:pPr algn="l">
              <a:lnSpc>
                <a:spcPts val="4687"/>
              </a:lnSpc>
            </a:pPr>
            <a:r>
              <a:rPr lang="en-US" sz="3372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Here’s the most important part. I used TensorFlow’s tf.nn.conv2d() function, wrapped inside: </a:t>
            </a:r>
          </a:p>
          <a:p>
            <a:pPr algn="l">
              <a:lnSpc>
                <a:spcPts val="4687"/>
              </a:lnSpc>
            </a:pPr>
            <a:r>
              <a:rPr lang="en-US" sz="3372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                                </a:t>
            </a:r>
            <a:r>
              <a:rPr lang="en-US" b="true" sz="3372" u="sng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with tf.device('/GPU:0'):</a:t>
            </a:r>
          </a:p>
          <a:p>
            <a:pPr algn="l">
              <a:lnSpc>
                <a:spcPts val="4687"/>
              </a:lnSpc>
            </a:pPr>
            <a:r>
              <a:rPr lang="en-US" sz="3372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tells TensorFlow to run the convolution explicitly on the GPU, which takes advantage of the T4 GPU that Colab provides.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12251" y="3306909"/>
            <a:ext cx="4724067" cy="3543052"/>
            <a:chOff x="0" y="0"/>
            <a:chExt cx="6298756" cy="47240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98819" cy="4724019"/>
            </a:xfrm>
            <a:custGeom>
              <a:avLst/>
              <a:gdLst/>
              <a:ahLst/>
              <a:cxnLst/>
              <a:rect r="r" b="b" t="t" l="l"/>
              <a:pathLst>
                <a:path h="4724019" w="6298819">
                  <a:moveTo>
                    <a:pt x="0" y="0"/>
                  </a:moveTo>
                  <a:lnTo>
                    <a:pt x="6298819" y="0"/>
                  </a:lnTo>
                  <a:lnTo>
                    <a:pt x="6298819" y="4724019"/>
                  </a:lnTo>
                  <a:lnTo>
                    <a:pt x="0" y="4724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376507" y="-504825"/>
            <a:ext cx="13049307" cy="39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My Technical Approach – How I Solved the Problem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3938378" y="3396063"/>
            <a:ext cx="12896317" cy="4776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📌 Step 4: Showing and Saving Results</a:t>
            </a:r>
          </a:p>
          <a:p>
            <a:pPr algn="l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After the operation, I display two images:</a:t>
            </a:r>
          </a:p>
          <a:p>
            <a:pPr algn="l" marL="680399" indent="-226800" lvl="2">
              <a:lnSpc>
                <a:spcPts val="4137"/>
              </a:lnSpc>
              <a:buFont typeface="Arial"/>
              <a:buChar char="⚬"/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The original grayscale image</a:t>
            </a:r>
          </a:p>
          <a:p>
            <a:pPr algn="l" marL="680399" indent="-226800" lvl="2">
              <a:lnSpc>
                <a:spcPts val="4137"/>
              </a:lnSpc>
              <a:buFont typeface="Arial"/>
              <a:buChar char="⚬"/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The edge-detected image from the GPU</a:t>
            </a:r>
          </a:p>
          <a:p>
            <a:pPr algn="l" marL="680399" indent="-226800" lvl="2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 also saved the result as gpu_output_tf.png, and confirmed GPU usage in a log.txt file using:</a:t>
            </a:r>
          </a:p>
          <a:p>
            <a:pPr algn="l" marL="680399" indent="-226800" lvl="2">
              <a:lnSpc>
                <a:spcPts val="4137"/>
              </a:lnSpc>
            </a:pPr>
          </a:p>
          <a:p>
            <a:pPr algn="l" marL="680399" indent="-226800" lvl="2">
              <a:lnSpc>
                <a:spcPts val="4137"/>
              </a:lnSpc>
            </a:pPr>
            <a:r>
              <a:rPr lang="en-US" sz="2976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returns [PhysicalDevice(name='/physical_device:GPU:0')], confirming that the GPU was used correctly.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0" y="3426590"/>
            <a:ext cx="3543833" cy="2657875"/>
            <a:chOff x="0" y="0"/>
            <a:chExt cx="4725111" cy="354383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725162" cy="3543808"/>
            </a:xfrm>
            <a:custGeom>
              <a:avLst/>
              <a:gdLst/>
              <a:ahLst/>
              <a:cxnLst/>
              <a:rect r="r" b="b" t="t" l="l"/>
              <a:pathLst>
                <a:path h="3543808" w="4725162">
                  <a:moveTo>
                    <a:pt x="0" y="0"/>
                  </a:moveTo>
                  <a:lnTo>
                    <a:pt x="4725162" y="0"/>
                  </a:lnTo>
                  <a:lnTo>
                    <a:pt x="4725162" y="3543808"/>
                  </a:lnTo>
                  <a:lnTo>
                    <a:pt x="0" y="35438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030353" y="6112107"/>
            <a:ext cx="9147981" cy="945404"/>
            <a:chOff x="0" y="0"/>
            <a:chExt cx="12197309" cy="12605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7334" cy="1260475"/>
            </a:xfrm>
            <a:custGeom>
              <a:avLst/>
              <a:gdLst/>
              <a:ahLst/>
              <a:cxnLst/>
              <a:rect r="r" b="b" t="t" l="l"/>
              <a:pathLst>
                <a:path h="1260475" w="12197334">
                  <a:moveTo>
                    <a:pt x="0" y="0"/>
                  </a:moveTo>
                  <a:lnTo>
                    <a:pt x="12197334" y="0"/>
                  </a:lnTo>
                  <a:lnTo>
                    <a:pt x="12197334" y="1260475"/>
                  </a:lnTo>
                  <a:lnTo>
                    <a:pt x="0" y="12604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02" t="0" r="-2002" b="-5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376507" y="-504825"/>
            <a:ext cx="13049307" cy="39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My Technical Approach – How I Solved the Problem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752869" y="3306909"/>
            <a:ext cx="10027139" cy="5076244"/>
            <a:chOff x="0" y="0"/>
            <a:chExt cx="13369519" cy="67683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369544" cy="6768338"/>
            </a:xfrm>
            <a:custGeom>
              <a:avLst/>
              <a:gdLst/>
              <a:ahLst/>
              <a:cxnLst/>
              <a:rect r="r" b="b" t="t" l="l"/>
              <a:pathLst>
                <a:path h="6768338" w="13369544">
                  <a:moveTo>
                    <a:pt x="0" y="0"/>
                  </a:moveTo>
                  <a:lnTo>
                    <a:pt x="13369544" y="0"/>
                  </a:lnTo>
                  <a:lnTo>
                    <a:pt x="13369544" y="6768338"/>
                  </a:lnTo>
                  <a:lnTo>
                    <a:pt x="0" y="6768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t="0" r="-2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619346" y="-462553"/>
            <a:ext cx="13049307" cy="39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Results – What the Output Tells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31338" y="8249793"/>
            <a:ext cx="12425315" cy="208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0"/>
              </a:lnSpc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The result speaks for itself.</a:t>
            </a: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On the left: the smooth grayscale image.</a:t>
            </a: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On the right: the output from the Sobel filter, processed entirely on the GPU.</a:t>
            </a:r>
          </a:p>
          <a:p>
            <a:pPr algn="l" marL="662941" indent="-220980" lvl="2">
              <a:lnSpc>
                <a:spcPts val="403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402873" y="1244017"/>
            <a:ext cx="6080560" cy="3078290"/>
            <a:chOff x="0" y="0"/>
            <a:chExt cx="8107413" cy="410438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07426" cy="4104386"/>
            </a:xfrm>
            <a:custGeom>
              <a:avLst/>
              <a:gdLst/>
              <a:ahLst/>
              <a:cxnLst/>
              <a:rect r="r" b="b" t="t" l="l"/>
              <a:pathLst>
                <a:path h="4104386" w="8107426">
                  <a:moveTo>
                    <a:pt x="0" y="0"/>
                  </a:moveTo>
                  <a:lnTo>
                    <a:pt x="8107426" y="0"/>
                  </a:lnTo>
                  <a:lnTo>
                    <a:pt x="8107426" y="4104386"/>
                  </a:lnTo>
                  <a:lnTo>
                    <a:pt x="0" y="41043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" t="0" r="-23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619346" y="-462553"/>
            <a:ext cx="13049307" cy="3931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Results – What the Output Tells Us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24242" y="4779807"/>
            <a:ext cx="14926227" cy="550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1"/>
              </a:lnSpc>
            </a:pPr>
            <a:r>
              <a:rPr lang="en-US" sz="34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You can clearly see outlines — around the face, hands, drink cups, and hair. These are the edges in the image.</a:t>
            </a:r>
          </a:p>
          <a:p>
            <a:pPr algn="l">
              <a:lnSpc>
                <a:spcPts val="4841"/>
              </a:lnSpc>
            </a:pPr>
            <a:r>
              <a:rPr lang="en-US" sz="34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confirms that the convolution operation worked exactly as intended. And since TensorFlow runs this on the GPU, the operation was fast, seamless, and optimized for large-scale image processing.</a:t>
            </a:r>
          </a:p>
          <a:p>
            <a:pPr algn="l">
              <a:lnSpc>
                <a:spcPts val="4841"/>
              </a:lnSpc>
            </a:pPr>
            <a:r>
              <a:rPr lang="en-US" sz="34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Even though I didn’t benchmark exact CPU vs GPU timings, visually and practically — the GPU performs the task instantly on image sizes that would otherwise take longer on CPU.</a:t>
            </a:r>
          </a:p>
          <a:p>
            <a:pPr algn="l">
              <a:lnSpc>
                <a:spcPts val="4841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4349153" y="-266567"/>
            <a:ext cx="9589694" cy="208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Lessons Learned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692195" y="2127380"/>
            <a:ext cx="11383137" cy="713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project taught me a lot — not just about image processing, but also about toolchains and GPU frameworks.</a:t>
            </a:r>
          </a:p>
          <a:p>
            <a:pPr algn="l" marL="662941" indent="-220980" lvl="2">
              <a:lnSpc>
                <a:spcPts val="4030"/>
              </a:lnSpc>
            </a:pP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 learned how to structure data for GPU processing</a:t>
            </a:r>
          </a:p>
          <a:p>
            <a:pPr algn="l" marL="662941" indent="-220980" lvl="2">
              <a:lnSpc>
                <a:spcPts val="4030"/>
              </a:lnSpc>
            </a:pP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How to offload tensor-based operations using TensorFlow</a:t>
            </a:r>
          </a:p>
          <a:p>
            <a:pPr algn="l" marL="662941" indent="-220980" lvl="2">
              <a:lnSpc>
                <a:spcPts val="4030"/>
              </a:lnSpc>
            </a:pP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And most importantly — how critical it is to choose the right library for the right platform</a:t>
            </a:r>
          </a:p>
          <a:p>
            <a:pPr algn="l" marL="662941" indent="-220980" lvl="2">
              <a:lnSpc>
                <a:spcPts val="4030"/>
              </a:lnSpc>
            </a:pPr>
          </a:p>
          <a:p>
            <a:pPr algn="l" marL="662941" indent="-220980" lvl="2">
              <a:lnSpc>
                <a:spcPts val="4030"/>
              </a:lnSpc>
              <a:buFont typeface="Arial"/>
              <a:buChar char="⚬"/>
            </a:pPr>
            <a:r>
              <a:rPr lang="en-US" sz="2900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 also learned that GPU programming is not just about speed — it’s about scalability. This simple technique can be scaled to handle entire batches of images, or real-time video.</a:t>
            </a:r>
          </a:p>
          <a:p>
            <a:pPr algn="l" marL="662941" indent="-220980" lvl="2">
              <a:lnSpc>
                <a:spcPts val="403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438067" y="1133618"/>
            <a:ext cx="13049307" cy="2087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597"/>
              </a:lnSpc>
            </a:pPr>
            <a:r>
              <a:rPr lang="en-US" sz="10426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 Conclusion – Wrapping 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63613" y="3954980"/>
            <a:ext cx="13323760" cy="592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56498" indent="-318833" lvl="2">
              <a:lnSpc>
                <a:spcPts val="5816"/>
              </a:lnSpc>
              <a:buFont typeface="Arial"/>
              <a:buChar char="⚬"/>
            </a:pPr>
            <a:r>
              <a:rPr lang="en-US" b="true" sz="4184">
                <a:solidFill>
                  <a:srgbClr val="000000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To summarize:</a:t>
            </a:r>
          </a:p>
          <a:p>
            <a:pPr algn="l" marL="682168" indent="-227389" lvl="2">
              <a:lnSpc>
                <a:spcPts val="3592"/>
              </a:lnSpc>
            </a:pPr>
          </a:p>
          <a:p>
            <a:pPr algn="l" marL="682182" indent="-227394" lvl="2">
              <a:lnSpc>
                <a:spcPts val="4148"/>
              </a:lnSpc>
              <a:buFont typeface="Arial"/>
              <a:buChar char="⚬"/>
            </a:pPr>
            <a:r>
              <a:rPr lang="en-US" sz="29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 built a complete GPU-accelerated edge detection system using TensorFlow in Colab</a:t>
            </a:r>
          </a:p>
          <a:p>
            <a:pPr algn="l" marL="682182" indent="-227394" lvl="2">
              <a:lnSpc>
                <a:spcPts val="4148"/>
              </a:lnSpc>
              <a:buFont typeface="Arial"/>
              <a:buChar char="⚬"/>
            </a:pPr>
            <a:r>
              <a:rPr lang="en-US" sz="29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The system uses a Sobel filter to extract image features</a:t>
            </a:r>
          </a:p>
          <a:p>
            <a:pPr algn="l" marL="682182" indent="-227394" lvl="2">
              <a:lnSpc>
                <a:spcPts val="4148"/>
              </a:lnSpc>
              <a:buFont typeface="Arial"/>
              <a:buChar char="⚬"/>
            </a:pPr>
            <a:r>
              <a:rPr lang="en-US" sz="29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It runs efficiently on the GPU, with results saved and visualized</a:t>
            </a:r>
          </a:p>
          <a:p>
            <a:pPr algn="l" marL="682182" indent="-227394" lvl="2">
              <a:lnSpc>
                <a:spcPts val="4148"/>
              </a:lnSpc>
              <a:buFont typeface="Arial"/>
              <a:buChar char="⚬"/>
            </a:pPr>
            <a:r>
              <a:rPr lang="en-US" sz="29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I documented everything in my GitHub repo — including code, results, logs, and this video</a:t>
            </a:r>
          </a:p>
          <a:p>
            <a:pPr algn="l" marL="682182" indent="-227394" lvl="2">
              <a:lnSpc>
                <a:spcPts val="4148"/>
              </a:lnSpc>
              <a:buFont typeface="Arial"/>
              <a:buChar char="⚬"/>
            </a:pPr>
            <a:r>
              <a:rPr lang="en-US" sz="2983">
                <a:solidFill>
                  <a:srgbClr val="000000"/>
                </a:solidFill>
                <a:latin typeface="Crimson Pro"/>
                <a:ea typeface="Crimson Pro"/>
                <a:cs typeface="Crimson Pro"/>
                <a:sym typeface="Crimson Pro"/>
              </a:rPr>
              <a:t>This project fulfills the Capstone requirements by being practical, GPU-based, and well-documented.</a:t>
            </a:r>
          </a:p>
          <a:p>
            <a:pPr algn="l" marL="682182" indent="-227394" lvl="2">
              <a:lnSpc>
                <a:spcPts val="3592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473297" y="-818864"/>
            <a:ext cx="1701879" cy="4125763"/>
            <a:chOff x="0" y="0"/>
            <a:chExt cx="2269172" cy="55010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69109" cy="5501005"/>
            </a:xfrm>
            <a:custGeom>
              <a:avLst/>
              <a:gdLst/>
              <a:ahLst/>
              <a:cxnLst/>
              <a:rect r="r" b="b" t="t" l="l"/>
              <a:pathLst>
                <a:path h="5501005" w="2269109">
                  <a:moveTo>
                    <a:pt x="0" y="0"/>
                  </a:moveTo>
                  <a:lnTo>
                    <a:pt x="2269109" y="0"/>
                  </a:lnTo>
                  <a:lnTo>
                    <a:pt x="2269109" y="5501005"/>
                  </a:lnTo>
                  <a:lnTo>
                    <a:pt x="0" y="55010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" t="0" r="-1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834695" y="7057511"/>
            <a:ext cx="2258282" cy="3944607"/>
            <a:chOff x="0" y="0"/>
            <a:chExt cx="3011043" cy="52594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011043" cy="5259451"/>
            </a:xfrm>
            <a:custGeom>
              <a:avLst/>
              <a:gdLst/>
              <a:ahLst/>
              <a:cxnLst/>
              <a:rect r="r" b="b" t="t" l="l"/>
              <a:pathLst>
                <a:path h="5259451" w="3011043">
                  <a:moveTo>
                    <a:pt x="0" y="0"/>
                  </a:moveTo>
                  <a:lnTo>
                    <a:pt x="3011043" y="0"/>
                  </a:lnTo>
                  <a:lnTo>
                    <a:pt x="3011043" y="5259451"/>
                  </a:lnTo>
                  <a:lnTo>
                    <a:pt x="0" y="525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4" t="0" r="-5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995665" y="9171661"/>
            <a:ext cx="2239347" cy="2172167"/>
            <a:chOff x="0" y="0"/>
            <a:chExt cx="2985795" cy="28962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985770" cy="2896235"/>
            </a:xfrm>
            <a:custGeom>
              <a:avLst/>
              <a:gdLst/>
              <a:ahLst/>
              <a:cxnLst/>
              <a:rect r="r" b="b" t="t" l="l"/>
              <a:pathLst>
                <a:path h="2896235" w="2985770">
                  <a:moveTo>
                    <a:pt x="0" y="0"/>
                  </a:moveTo>
                  <a:lnTo>
                    <a:pt x="2985770" y="0"/>
                  </a:lnTo>
                  <a:lnTo>
                    <a:pt x="2985770" y="2896235"/>
                  </a:lnTo>
                  <a:lnTo>
                    <a:pt x="0" y="28962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294" r="0" b="-929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10923" y="931593"/>
            <a:ext cx="13266144" cy="4211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96"/>
              </a:lnSpc>
            </a:pPr>
            <a:r>
              <a:rPr lang="en-US" sz="20927">
                <a:solidFill>
                  <a:srgbClr val="141619"/>
                </a:solidFill>
                <a:latin typeface="Sugo Classic"/>
                <a:ea typeface="Sugo Classic"/>
                <a:cs typeface="Sugo Classic"/>
                <a:sym typeface="Sugo Classic"/>
              </a:rPr>
              <a:t>Thank You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-352520" y="5878830"/>
            <a:ext cx="18640520" cy="6758940"/>
            <a:chOff x="0" y="0"/>
            <a:chExt cx="24854027" cy="9011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854027" cy="9011920"/>
            </a:xfrm>
            <a:custGeom>
              <a:avLst/>
              <a:gdLst/>
              <a:ahLst/>
              <a:cxnLst/>
              <a:rect r="r" b="b" t="t" l="l"/>
              <a:pathLst>
                <a:path h="9011920" w="24854027">
                  <a:moveTo>
                    <a:pt x="0" y="0"/>
                  </a:moveTo>
                  <a:lnTo>
                    <a:pt x="24854027" y="0"/>
                  </a:lnTo>
                  <a:lnTo>
                    <a:pt x="24854027" y="9011920"/>
                  </a:lnTo>
                  <a:lnTo>
                    <a:pt x="0" y="9011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012" r="0" b="-1012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984618" y="-490899"/>
            <a:ext cx="3335303" cy="8085592"/>
            <a:chOff x="0" y="0"/>
            <a:chExt cx="4447070" cy="1078078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7032" cy="10780776"/>
            </a:xfrm>
            <a:custGeom>
              <a:avLst/>
              <a:gdLst/>
              <a:ahLst/>
              <a:cxnLst/>
              <a:rect r="r" b="b" t="t" l="l"/>
              <a:pathLst>
                <a:path h="10780776" w="4447032">
                  <a:moveTo>
                    <a:pt x="0" y="0"/>
                  </a:moveTo>
                  <a:lnTo>
                    <a:pt x="4447032" y="0"/>
                  </a:lnTo>
                  <a:lnTo>
                    <a:pt x="4447032" y="10780776"/>
                  </a:lnTo>
                  <a:lnTo>
                    <a:pt x="0" y="10780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" t="0" r="-8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DAHIH4DJQ5M</dc:identifier>
  <dcterms:modified xsi:type="dcterms:W3CDTF">2011-08-01T06:04:30Z</dcterms:modified>
  <cp:revision>1</cp:revision>
  <dc:title>Presentation.pptx</dc:title>
</cp:coreProperties>
</file>